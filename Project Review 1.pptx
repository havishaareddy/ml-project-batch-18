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2" r:id="rId5"/>
    <p:sldId id="263" r:id="rId6"/>
    <p:sldId id="259" r:id="rId7"/>
    <p:sldId id="260" r:id="rId8"/>
    <p:sldId id="265" r:id="rId9"/>
    <p:sldId id="261"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FA58F4F-DA3A-4DF4-AE59-F93EF0747BC9}" type="datetimeFigureOut">
              <a:rPr lang="en-GB" smtClean="0"/>
              <a:t>28/08/2026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823FD72-B0AE-486A-9D23-A804FF0009F7}" type="slidenum">
              <a:rPr lang="en-GB" smtClean="0"/>
              <a:t>‹#›</a:t>
            </a:fld>
            <a:endParaRPr lang="en-GB"/>
          </a:p>
        </p:txBody>
      </p:sp>
    </p:spTree>
    <p:extLst>
      <p:ext uri="{BB962C8B-B14F-4D97-AF65-F5344CB8AC3E}">
        <p14:creationId xmlns:p14="http://schemas.microsoft.com/office/powerpoint/2010/main" val="218213291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A58F4F-DA3A-4DF4-AE59-F93EF0747BC9}" type="datetimeFigureOut">
              <a:rPr lang="en-GB" smtClean="0"/>
              <a:t>28/08/2026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823FD72-B0AE-486A-9D23-A804FF0009F7}" type="slidenum">
              <a:rPr lang="en-GB" smtClean="0"/>
              <a:t>‹#›</a:t>
            </a:fld>
            <a:endParaRPr lang="en-GB"/>
          </a:p>
        </p:txBody>
      </p:sp>
    </p:spTree>
    <p:extLst>
      <p:ext uri="{BB962C8B-B14F-4D97-AF65-F5344CB8AC3E}">
        <p14:creationId xmlns:p14="http://schemas.microsoft.com/office/powerpoint/2010/main" val="1489020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CFA58F4F-DA3A-4DF4-AE59-F93EF0747BC9}" type="datetimeFigureOut">
              <a:rPr lang="en-GB" smtClean="0"/>
              <a:t>28/08/2026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823FD72-B0AE-486A-9D23-A804FF0009F7}" type="slidenum">
              <a:rPr lang="en-GB" smtClean="0"/>
              <a:t>‹#›</a:t>
            </a:fld>
            <a:endParaRPr lang="en-GB"/>
          </a:p>
        </p:txBody>
      </p:sp>
    </p:spTree>
    <p:extLst>
      <p:ext uri="{BB962C8B-B14F-4D97-AF65-F5344CB8AC3E}">
        <p14:creationId xmlns:p14="http://schemas.microsoft.com/office/powerpoint/2010/main" val="325157450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CFA58F4F-DA3A-4DF4-AE59-F93EF0747BC9}" type="datetimeFigureOut">
              <a:rPr lang="en-GB" smtClean="0"/>
              <a:t>28/08/2026</a:t>
            </a:fld>
            <a:endParaRPr lang="en-GB"/>
          </a:p>
        </p:txBody>
      </p:sp>
      <p:sp>
        <p:nvSpPr>
          <p:cNvPr id="9" name="Footer Placeholder 8"/>
          <p:cNvSpPr>
            <a:spLocks noGrp="1"/>
          </p:cNvSpPr>
          <p:nvPr>
            <p:ph type="ftr" sz="quarter" idx="11"/>
          </p:nvPr>
        </p:nvSpPr>
        <p:spPr/>
        <p:txBody>
          <a:bodyPr/>
          <a:lstStyle/>
          <a:p>
            <a:endParaRPr lang="en-GB"/>
          </a:p>
        </p:txBody>
      </p:sp>
      <p:sp>
        <p:nvSpPr>
          <p:cNvPr id="10" name="Slide Number Placeholder 9"/>
          <p:cNvSpPr>
            <a:spLocks noGrp="1"/>
          </p:cNvSpPr>
          <p:nvPr>
            <p:ph type="sldNum" sz="quarter" idx="12"/>
          </p:nvPr>
        </p:nvSpPr>
        <p:spPr/>
        <p:txBody>
          <a:bodyPr/>
          <a:lstStyle/>
          <a:p>
            <a:fld id="{3823FD72-B0AE-486A-9D23-A804FF0009F7}" type="slidenum">
              <a:rPr lang="en-GB" smtClean="0"/>
              <a:t>‹#›</a:t>
            </a:fld>
            <a:endParaRPr lang="en-GB"/>
          </a:p>
        </p:txBody>
      </p:sp>
    </p:spTree>
    <p:extLst>
      <p:ext uri="{BB962C8B-B14F-4D97-AF65-F5344CB8AC3E}">
        <p14:creationId xmlns:p14="http://schemas.microsoft.com/office/powerpoint/2010/main" val="355045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7" name="Date Placeholder 6"/>
          <p:cNvSpPr>
            <a:spLocks noGrp="1"/>
          </p:cNvSpPr>
          <p:nvPr>
            <p:ph type="dt" sz="half" idx="10"/>
          </p:nvPr>
        </p:nvSpPr>
        <p:spPr/>
        <p:txBody>
          <a:bodyPr/>
          <a:lstStyle/>
          <a:p>
            <a:fld id="{CFA58F4F-DA3A-4DF4-AE59-F93EF0747BC9}" type="datetimeFigureOut">
              <a:rPr lang="en-GB" smtClean="0"/>
              <a:t>28/08/2026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823FD72-B0AE-486A-9D23-A804FF0009F7}" type="slidenum">
              <a:rPr lang="en-GB" smtClean="0"/>
              <a:t>‹#›</a:t>
            </a:fld>
            <a:endParaRPr lang="en-GB"/>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529498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FA58F4F-DA3A-4DF4-AE59-F93EF0747BC9}" type="datetimeFigureOut">
              <a:rPr lang="en-GB" smtClean="0"/>
              <a:t>28/08/2026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823FD72-B0AE-486A-9D23-A804FF0009F7}" type="slidenum">
              <a:rPr lang="en-GB" smtClean="0"/>
              <a:t>‹#›</a:t>
            </a:fld>
            <a:endParaRPr lang="en-GB"/>
          </a:p>
        </p:txBody>
      </p:sp>
    </p:spTree>
    <p:extLst>
      <p:ext uri="{BB962C8B-B14F-4D97-AF65-F5344CB8AC3E}">
        <p14:creationId xmlns:p14="http://schemas.microsoft.com/office/powerpoint/2010/main" val="4286536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A58F4F-DA3A-4DF4-AE59-F93EF0747BC9}" type="datetimeFigureOut">
              <a:rPr lang="en-GB" smtClean="0"/>
              <a:t>28/08/2026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823FD72-B0AE-486A-9D23-A804FF0009F7}" type="slidenum">
              <a:rPr lang="en-GB" smtClean="0"/>
              <a:t>‹#›</a:t>
            </a:fld>
            <a:endParaRPr lang="en-GB"/>
          </a:p>
        </p:txBody>
      </p:sp>
    </p:spTree>
    <p:extLst>
      <p:ext uri="{BB962C8B-B14F-4D97-AF65-F5344CB8AC3E}">
        <p14:creationId xmlns:p14="http://schemas.microsoft.com/office/powerpoint/2010/main" val="2461812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Date Placeholder 8"/>
          <p:cNvSpPr>
            <a:spLocks noGrp="1"/>
          </p:cNvSpPr>
          <p:nvPr>
            <p:ph type="dt" sz="half" idx="10"/>
          </p:nvPr>
        </p:nvSpPr>
        <p:spPr/>
        <p:txBody>
          <a:bodyPr/>
          <a:lstStyle/>
          <a:p>
            <a:fld id="{CFA58F4F-DA3A-4DF4-AE59-F93EF0747BC9}" type="datetimeFigureOut">
              <a:rPr lang="en-GB" smtClean="0"/>
              <a:t>28/08/2026</a:t>
            </a:fld>
            <a:endParaRPr lang="en-GB"/>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GB"/>
          </a:p>
        </p:txBody>
      </p:sp>
      <p:sp>
        <p:nvSpPr>
          <p:cNvPr id="11" name="Slide Number Placeholder 10"/>
          <p:cNvSpPr>
            <a:spLocks noGrp="1"/>
          </p:cNvSpPr>
          <p:nvPr>
            <p:ph type="sldNum" sz="quarter" idx="12"/>
          </p:nvPr>
        </p:nvSpPr>
        <p:spPr/>
        <p:txBody>
          <a:bodyPr/>
          <a:lstStyle/>
          <a:p>
            <a:fld id="{3823FD72-B0AE-486A-9D23-A804FF0009F7}" type="slidenum">
              <a:rPr lang="en-GB" smtClean="0"/>
              <a:t>‹#›</a:t>
            </a:fld>
            <a:endParaRPr lang="en-GB"/>
          </a:p>
        </p:txBody>
      </p:sp>
    </p:spTree>
    <p:extLst>
      <p:ext uri="{BB962C8B-B14F-4D97-AF65-F5344CB8AC3E}">
        <p14:creationId xmlns:p14="http://schemas.microsoft.com/office/powerpoint/2010/main" val="3956244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CFA58F4F-DA3A-4DF4-AE59-F93EF0747BC9}" type="datetimeFigureOut">
              <a:rPr lang="en-GB" smtClean="0"/>
              <a:t>28/08/2026</a:t>
            </a:fld>
            <a:endParaRPr lang="en-GB"/>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GB"/>
          </a:p>
        </p:txBody>
      </p:sp>
      <p:sp>
        <p:nvSpPr>
          <p:cNvPr id="10" name="Slide Number Placeholder 9"/>
          <p:cNvSpPr>
            <a:spLocks noGrp="1"/>
          </p:cNvSpPr>
          <p:nvPr>
            <p:ph type="sldNum" sz="quarter" idx="12"/>
          </p:nvPr>
        </p:nvSpPr>
        <p:spPr/>
        <p:txBody>
          <a:bodyPr/>
          <a:lstStyle/>
          <a:p>
            <a:fld id="{3823FD72-B0AE-486A-9D23-A804FF0009F7}" type="slidenum">
              <a:rPr lang="en-GB" smtClean="0"/>
              <a:t>‹#›</a:t>
            </a:fld>
            <a:endParaRPr lang="en-GB"/>
          </a:p>
        </p:txBody>
      </p:sp>
    </p:spTree>
    <p:extLst>
      <p:ext uri="{BB962C8B-B14F-4D97-AF65-F5344CB8AC3E}">
        <p14:creationId xmlns:p14="http://schemas.microsoft.com/office/powerpoint/2010/main" val="1500236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A58F4F-DA3A-4DF4-AE59-F93EF0747BC9}" type="datetimeFigureOut">
              <a:rPr lang="en-GB" smtClean="0"/>
              <a:t>28/08/2026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823FD72-B0AE-486A-9D23-A804FF0009F7}" type="slidenum">
              <a:rPr lang="en-GB" smtClean="0"/>
              <a:t>‹#›</a:t>
            </a:fld>
            <a:endParaRPr lang="en-GB"/>
          </a:p>
        </p:txBody>
      </p:sp>
    </p:spTree>
    <p:extLst>
      <p:ext uri="{BB962C8B-B14F-4D97-AF65-F5344CB8AC3E}">
        <p14:creationId xmlns:p14="http://schemas.microsoft.com/office/powerpoint/2010/main" val="2743964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A58F4F-DA3A-4DF4-AE59-F93EF0747BC9}" type="datetimeFigureOut">
              <a:rPr lang="en-GB" smtClean="0"/>
              <a:t>28/08/2026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823FD72-B0AE-486A-9D23-A804FF0009F7}" type="slidenum">
              <a:rPr lang="en-GB" smtClean="0"/>
              <a:t>‹#›</a:t>
            </a:fld>
            <a:endParaRPr lang="en-GB"/>
          </a:p>
        </p:txBody>
      </p:sp>
    </p:spTree>
    <p:extLst>
      <p:ext uri="{BB962C8B-B14F-4D97-AF65-F5344CB8AC3E}">
        <p14:creationId xmlns:p14="http://schemas.microsoft.com/office/powerpoint/2010/main" val="4500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CFA58F4F-DA3A-4DF4-AE59-F93EF0747BC9}" type="datetimeFigureOut">
              <a:rPr lang="en-GB" smtClean="0"/>
              <a:t>28/08/2026</a:t>
            </a:fld>
            <a:endParaRPr lang="en-GB"/>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GB"/>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3823FD72-B0AE-486A-9D23-A804FF0009F7}" type="slidenum">
              <a:rPr lang="en-GB" smtClean="0"/>
              <a:t>‹#›</a:t>
            </a:fld>
            <a:endParaRPr lang="en-GB"/>
          </a:p>
        </p:txBody>
      </p:sp>
    </p:spTree>
    <p:extLst>
      <p:ext uri="{BB962C8B-B14F-4D97-AF65-F5344CB8AC3E}">
        <p14:creationId xmlns:p14="http://schemas.microsoft.com/office/powerpoint/2010/main" val="9541852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E7887-77AC-47AB-B1CC-3489B5B9CE5A}"/>
              </a:ext>
            </a:extLst>
          </p:cNvPr>
          <p:cNvSpPr>
            <a:spLocks noGrp="1"/>
          </p:cNvSpPr>
          <p:nvPr>
            <p:ph type="ctrTitle"/>
          </p:nvPr>
        </p:nvSpPr>
        <p:spPr/>
        <p:txBody>
          <a:bodyPr>
            <a:normAutofit fontScale="90000"/>
          </a:bodyPr>
          <a:lstStyle/>
          <a:p>
            <a:r>
              <a:rPr lang="en-US" b="1" dirty="0"/>
              <a:t>Wine Feature-Space Visualization Using PCA and t-SNE</a:t>
            </a:r>
            <a:endParaRPr lang="en-GB" dirty="0"/>
          </a:p>
        </p:txBody>
      </p:sp>
      <p:sp>
        <p:nvSpPr>
          <p:cNvPr id="3" name="Subtitle 2">
            <a:extLst>
              <a:ext uri="{FF2B5EF4-FFF2-40B4-BE49-F238E27FC236}">
                <a16:creationId xmlns:a16="http://schemas.microsoft.com/office/drawing/2014/main" id="{E650B8BD-CCD4-4E0F-AF2B-A49D4E9C18E0}"/>
              </a:ext>
            </a:extLst>
          </p:cNvPr>
          <p:cNvSpPr>
            <a:spLocks noGrp="1"/>
          </p:cNvSpPr>
          <p:nvPr>
            <p:ph type="subTitle" idx="1"/>
          </p:nvPr>
        </p:nvSpPr>
        <p:spPr>
          <a:xfrm>
            <a:off x="4595712" y="5024897"/>
            <a:ext cx="6801612" cy="1239894"/>
          </a:xfrm>
        </p:spPr>
        <p:txBody>
          <a:bodyPr>
            <a:normAutofit lnSpcReduction="10000"/>
          </a:bodyPr>
          <a:lstStyle/>
          <a:p>
            <a:pPr algn="r"/>
            <a:r>
              <a:rPr lang="en-US" dirty="0"/>
              <a:t>BY: </a:t>
            </a:r>
          </a:p>
          <a:p>
            <a:pPr algn="r"/>
            <a:r>
              <a:rPr lang="en-US" dirty="0"/>
              <a:t>2520030365 - ANGELA </a:t>
            </a:r>
          </a:p>
          <a:p>
            <a:pPr algn="r"/>
            <a:r>
              <a:rPr lang="en-US" dirty="0"/>
              <a:t>2520030371 - HAVISHAA</a:t>
            </a:r>
            <a:endParaRPr lang="en-GB" dirty="0"/>
          </a:p>
        </p:txBody>
      </p:sp>
    </p:spTree>
    <p:extLst>
      <p:ext uri="{BB962C8B-B14F-4D97-AF65-F5344CB8AC3E}">
        <p14:creationId xmlns:p14="http://schemas.microsoft.com/office/powerpoint/2010/main" val="323534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A4BE0-4C6C-4E41-8F09-0E0E41CADE80}"/>
              </a:ext>
            </a:extLst>
          </p:cNvPr>
          <p:cNvSpPr>
            <a:spLocks noGrp="1"/>
          </p:cNvSpPr>
          <p:nvPr>
            <p:ph type="title"/>
          </p:nvPr>
        </p:nvSpPr>
        <p:spPr>
          <a:xfrm>
            <a:off x="2060807" y="274410"/>
            <a:ext cx="7729728" cy="1188720"/>
          </a:xfrm>
        </p:spPr>
        <p:txBody>
          <a:bodyPr/>
          <a:lstStyle/>
          <a:p>
            <a:r>
              <a:rPr lang="en-US" dirty="0"/>
              <a:t>Abstract</a:t>
            </a:r>
            <a:endParaRPr lang="en-GB" dirty="0"/>
          </a:p>
        </p:txBody>
      </p:sp>
      <p:sp>
        <p:nvSpPr>
          <p:cNvPr id="3" name="Content Placeholder 2">
            <a:extLst>
              <a:ext uri="{FF2B5EF4-FFF2-40B4-BE49-F238E27FC236}">
                <a16:creationId xmlns:a16="http://schemas.microsoft.com/office/drawing/2014/main" id="{209C7F24-1AD6-47AE-9DB5-1583F03FE059}"/>
              </a:ext>
            </a:extLst>
          </p:cNvPr>
          <p:cNvSpPr>
            <a:spLocks noGrp="1"/>
          </p:cNvSpPr>
          <p:nvPr>
            <p:ph idx="1"/>
          </p:nvPr>
        </p:nvSpPr>
        <p:spPr>
          <a:xfrm>
            <a:off x="2060807" y="1660353"/>
            <a:ext cx="7729728" cy="5120460"/>
          </a:xfrm>
        </p:spPr>
        <p:txBody>
          <a:bodyPr>
            <a:normAutofit lnSpcReduction="10000"/>
          </a:bodyPr>
          <a:lstStyle/>
          <a:p>
            <a:r>
              <a:rPr lang="en-IN" dirty="0"/>
              <a:t>Wine quality assessment is a challenging problem due to the interplay of multiple physicochemical properties such as acidity, alcohol concentration, density, and residual sugar. These attributes collectively determine the sensory experience of wine, yet their high dimensionality makes direct interpretation difficult. This project aims to address that challenge by applying dimensionality reduction techniques to the wine dataset, thereby simplifying the feature space and enabling clearer visualization of the relationships between wine characteristics and quality ratings.</a:t>
            </a:r>
            <a:endParaRPr lang="en-GB" dirty="0"/>
          </a:p>
          <a:p>
            <a:r>
              <a:rPr lang="en-IN" dirty="0"/>
              <a:t>Two widely used methods, Principal Component Analysis (PCA) and t-Distributed Stochastic Neighbour Embedding (t-SNE), are employed to reduce the dataset into lower-dimensional representations. PCA provides a linear transformation that identifies the most influential features, offering a structured view of how certain variables dominate wine quality. On the other hand, t-SNE captures complex non-linear dependencies, forming clusters that group wines with similar properties. Together, these approaches provide complementary insights: PCA highlights global variance patterns, while t-SNE emphasizes local similarities and differences. This dual perspective allows for a more comprehensive understanding of the dataset.</a:t>
            </a:r>
            <a:endParaRPr lang="en-GB" dirty="0"/>
          </a:p>
          <a:p>
            <a:endParaRPr lang="en-GB" dirty="0"/>
          </a:p>
        </p:txBody>
      </p:sp>
    </p:spTree>
    <p:extLst>
      <p:ext uri="{BB962C8B-B14F-4D97-AF65-F5344CB8AC3E}">
        <p14:creationId xmlns:p14="http://schemas.microsoft.com/office/powerpoint/2010/main" val="1918607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D572-8A3E-4C2A-B23F-EDC7BCE085CE}"/>
              </a:ext>
            </a:extLst>
          </p:cNvPr>
          <p:cNvSpPr>
            <a:spLocks noGrp="1"/>
          </p:cNvSpPr>
          <p:nvPr>
            <p:ph type="title"/>
          </p:nvPr>
        </p:nvSpPr>
        <p:spPr/>
        <p:txBody>
          <a:bodyPr/>
          <a:lstStyle/>
          <a:p>
            <a:r>
              <a:rPr lang="en-US" dirty="0"/>
              <a:t>ABSTRACT (cont..)</a:t>
            </a:r>
            <a:endParaRPr lang="en-GB" dirty="0"/>
          </a:p>
        </p:txBody>
      </p:sp>
      <p:sp>
        <p:nvSpPr>
          <p:cNvPr id="3" name="Content Placeholder 2">
            <a:extLst>
              <a:ext uri="{FF2B5EF4-FFF2-40B4-BE49-F238E27FC236}">
                <a16:creationId xmlns:a16="http://schemas.microsoft.com/office/drawing/2014/main" id="{D5DF92B0-75B4-4F61-AAF4-05748CEB41B9}"/>
              </a:ext>
            </a:extLst>
          </p:cNvPr>
          <p:cNvSpPr>
            <a:spLocks noGrp="1"/>
          </p:cNvSpPr>
          <p:nvPr>
            <p:ph idx="1"/>
          </p:nvPr>
        </p:nvSpPr>
        <p:spPr/>
        <p:txBody>
          <a:bodyPr>
            <a:normAutofit lnSpcReduction="10000"/>
          </a:bodyPr>
          <a:lstStyle/>
          <a:p>
            <a:r>
              <a:rPr lang="en-IN" dirty="0"/>
              <a:t>The results of this study demonstrate that dimensionality reduction is not only useful for visualization but also for uncovering meaningful patterns that support predictive modelling. Wines with comparable physicochemical profiles tend to cluster together, suggesting that feature-based grouping can serve as a foundation for machine learning models aimed at quality prediction. By bridging statistical techniques with practical applications, this project underscores the importance of visualization in machine learning. It shows how complex datasets can be simplified without losing critical information, ultimately contributing to more efficient, data-driven approaches in the food and beverage industry. The findings highlight the potential of machine learning to enhance traditional quality evaluation methods, offering valuable insights for both researchers and wine producers.</a:t>
            </a:r>
            <a:endParaRPr lang="en-GB" dirty="0"/>
          </a:p>
          <a:p>
            <a:endParaRPr lang="en-GB" dirty="0"/>
          </a:p>
        </p:txBody>
      </p:sp>
    </p:spTree>
    <p:extLst>
      <p:ext uri="{BB962C8B-B14F-4D97-AF65-F5344CB8AC3E}">
        <p14:creationId xmlns:p14="http://schemas.microsoft.com/office/powerpoint/2010/main" val="1127546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EDD19-230A-47F2-AC56-E1A4BC5DE3A3}"/>
              </a:ext>
            </a:extLst>
          </p:cNvPr>
          <p:cNvSpPr>
            <a:spLocks noGrp="1"/>
          </p:cNvSpPr>
          <p:nvPr>
            <p:ph type="title"/>
          </p:nvPr>
        </p:nvSpPr>
        <p:spPr/>
        <p:txBody>
          <a:bodyPr/>
          <a:lstStyle/>
          <a:p>
            <a:r>
              <a:rPr lang="en-US" dirty="0"/>
              <a:t>Dataset </a:t>
            </a:r>
            <a:endParaRPr lang="en-GB" dirty="0"/>
          </a:p>
        </p:txBody>
      </p:sp>
      <p:sp>
        <p:nvSpPr>
          <p:cNvPr id="3" name="Content Placeholder 2">
            <a:extLst>
              <a:ext uri="{FF2B5EF4-FFF2-40B4-BE49-F238E27FC236}">
                <a16:creationId xmlns:a16="http://schemas.microsoft.com/office/drawing/2014/main" id="{A79A481F-12AD-464E-AE64-FFAF95E8544A}"/>
              </a:ext>
            </a:extLst>
          </p:cNvPr>
          <p:cNvSpPr>
            <a:spLocks noGrp="1"/>
          </p:cNvSpPr>
          <p:nvPr>
            <p:ph idx="1"/>
          </p:nvPr>
        </p:nvSpPr>
        <p:spPr/>
        <p:txBody>
          <a:bodyPr>
            <a:normAutofit/>
          </a:bodyPr>
          <a:lstStyle/>
          <a:p>
            <a:pPr marL="0" indent="0">
              <a:buNone/>
            </a:pPr>
            <a:r>
              <a:rPr lang="en-GB" b="1" dirty="0"/>
              <a:t>   Dataset Overview:</a:t>
            </a:r>
            <a:endParaRPr lang="en-GB" dirty="0"/>
          </a:p>
          <a:p>
            <a:r>
              <a:rPr lang="en-GB" dirty="0"/>
              <a:t>Source: Kaggle (WineQT.csv).</a:t>
            </a:r>
          </a:p>
          <a:p>
            <a:r>
              <a:rPr lang="en-GB" dirty="0"/>
              <a:t>Dimensions: ~1,147 rows × 13 columns.</a:t>
            </a:r>
          </a:p>
          <a:p>
            <a:r>
              <a:rPr lang="en-GB" dirty="0"/>
              <a:t>Features: 11 physicochemical properties (acidity, sugar, alcohol, density, sulphates, etc.).</a:t>
            </a:r>
          </a:p>
          <a:p>
            <a:r>
              <a:rPr lang="en-GB" dirty="0"/>
              <a:t>Target: wine quality (score 0–10).</a:t>
            </a:r>
          </a:p>
          <a:p>
            <a:r>
              <a:rPr lang="en-GB" dirty="0"/>
              <a:t>Extra column: Id (identifier, usually dropped).</a:t>
            </a:r>
          </a:p>
          <a:p>
            <a:endParaRPr lang="en-GB" dirty="0"/>
          </a:p>
        </p:txBody>
      </p:sp>
    </p:spTree>
    <p:extLst>
      <p:ext uri="{BB962C8B-B14F-4D97-AF65-F5344CB8AC3E}">
        <p14:creationId xmlns:p14="http://schemas.microsoft.com/office/powerpoint/2010/main" val="1550311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69EB0-C991-4950-A02E-C00BC0E5C336}"/>
              </a:ext>
            </a:extLst>
          </p:cNvPr>
          <p:cNvSpPr>
            <a:spLocks noGrp="1"/>
          </p:cNvSpPr>
          <p:nvPr>
            <p:ph type="title"/>
          </p:nvPr>
        </p:nvSpPr>
        <p:spPr/>
        <p:txBody>
          <a:bodyPr/>
          <a:lstStyle/>
          <a:p>
            <a:r>
              <a:rPr lang="en-US" dirty="0"/>
              <a:t>Eda </a:t>
            </a:r>
            <a:endParaRPr lang="en-GB" dirty="0"/>
          </a:p>
        </p:txBody>
      </p:sp>
      <p:sp>
        <p:nvSpPr>
          <p:cNvPr id="3" name="Content Placeholder 2">
            <a:extLst>
              <a:ext uri="{FF2B5EF4-FFF2-40B4-BE49-F238E27FC236}">
                <a16:creationId xmlns:a16="http://schemas.microsoft.com/office/drawing/2014/main" id="{68F7ADE0-4808-453C-AC36-81F3F36920F8}"/>
              </a:ext>
            </a:extLst>
          </p:cNvPr>
          <p:cNvSpPr>
            <a:spLocks noGrp="1"/>
          </p:cNvSpPr>
          <p:nvPr>
            <p:ph idx="1"/>
          </p:nvPr>
        </p:nvSpPr>
        <p:spPr/>
        <p:txBody>
          <a:bodyPr>
            <a:normAutofit/>
          </a:bodyPr>
          <a:lstStyle/>
          <a:p>
            <a:pPr marL="0" indent="0">
              <a:buNone/>
            </a:pPr>
            <a:r>
              <a:rPr lang="en-GB" b="1" dirty="0"/>
              <a:t>    Exploratory Data Analysis (EDA):</a:t>
            </a:r>
            <a:endParaRPr lang="en-GB" dirty="0"/>
          </a:p>
          <a:p>
            <a:r>
              <a:rPr lang="en-GB" b="1" dirty="0"/>
              <a:t>Distribution of Quality Scores</a:t>
            </a:r>
            <a:r>
              <a:rPr lang="en-GB" dirty="0"/>
              <a:t>: Most wines rated 5–6, fewer at extremes.</a:t>
            </a:r>
          </a:p>
          <a:p>
            <a:r>
              <a:rPr lang="en-GB" b="1" dirty="0"/>
              <a:t>Feature Distributions</a:t>
            </a:r>
            <a:r>
              <a:rPr lang="en-GB" dirty="0"/>
              <a:t>: Histograms for alcohol, acidity, sugar show spread and outliers.</a:t>
            </a:r>
          </a:p>
          <a:p>
            <a:r>
              <a:rPr lang="en-GB" b="1" dirty="0"/>
              <a:t>Correlation Heatmap</a:t>
            </a:r>
            <a:r>
              <a:rPr lang="en-GB" dirty="0"/>
              <a:t>: Alcohol and sulphates often correlate positively with quality; density shows negative correlation.</a:t>
            </a:r>
          </a:p>
          <a:p>
            <a:r>
              <a:rPr lang="en-GB" b="1" dirty="0"/>
              <a:t>Key Insight</a:t>
            </a:r>
            <a:r>
              <a:rPr lang="en-GB" dirty="0"/>
              <a:t>: Certain chemical properties strongly influence wine quality, guiding dimensionality reduction and classification.</a:t>
            </a:r>
          </a:p>
          <a:p>
            <a:endParaRPr lang="en-GB" dirty="0"/>
          </a:p>
        </p:txBody>
      </p:sp>
    </p:spTree>
    <p:extLst>
      <p:ext uri="{BB962C8B-B14F-4D97-AF65-F5344CB8AC3E}">
        <p14:creationId xmlns:p14="http://schemas.microsoft.com/office/powerpoint/2010/main" val="3078191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33EB2-FAED-48BC-A341-853A01424682}"/>
              </a:ext>
            </a:extLst>
          </p:cNvPr>
          <p:cNvSpPr>
            <a:spLocks noGrp="1"/>
          </p:cNvSpPr>
          <p:nvPr>
            <p:ph type="title"/>
          </p:nvPr>
        </p:nvSpPr>
        <p:spPr/>
        <p:txBody>
          <a:bodyPr/>
          <a:lstStyle/>
          <a:p>
            <a:r>
              <a:rPr lang="en-US" dirty="0"/>
              <a:t>Existing systems</a:t>
            </a:r>
            <a:endParaRPr lang="en-GB" dirty="0"/>
          </a:p>
        </p:txBody>
      </p:sp>
      <p:sp>
        <p:nvSpPr>
          <p:cNvPr id="3" name="Content Placeholder 2">
            <a:extLst>
              <a:ext uri="{FF2B5EF4-FFF2-40B4-BE49-F238E27FC236}">
                <a16:creationId xmlns:a16="http://schemas.microsoft.com/office/drawing/2014/main" id="{747B6B0C-9664-44BE-9221-1E53CBCF0484}"/>
              </a:ext>
            </a:extLst>
          </p:cNvPr>
          <p:cNvSpPr>
            <a:spLocks noGrp="1"/>
          </p:cNvSpPr>
          <p:nvPr>
            <p:ph idx="1"/>
          </p:nvPr>
        </p:nvSpPr>
        <p:spPr/>
        <p:txBody>
          <a:bodyPr>
            <a:normAutofit/>
          </a:bodyPr>
          <a:lstStyle/>
          <a:p>
            <a:r>
              <a:rPr lang="en-GB" sz="1900" dirty="0"/>
              <a:t>The well‑known existing systems for wine quality prediction and analysis contain the following implementation:</a:t>
            </a:r>
          </a:p>
          <a:p>
            <a:pPr lvl="1"/>
            <a:r>
              <a:rPr lang="en-GB" sz="1900" dirty="0"/>
              <a:t>Implements EDA, PCA, t‑SNE, classification, and clustering on the wine dataset.</a:t>
            </a:r>
          </a:p>
          <a:p>
            <a:pPr lvl="1"/>
            <a:r>
              <a:rPr lang="en-GB" sz="1900" dirty="0"/>
              <a:t>Focuses on visualizing correlations and building predictive models.</a:t>
            </a:r>
          </a:p>
          <a:p>
            <a:pPr lvl="1"/>
            <a:r>
              <a:rPr lang="en-GB" sz="1900" dirty="0"/>
              <a:t>Uses PCA for dimensionality reduction and trains models like Random Forest and SVM.</a:t>
            </a:r>
          </a:p>
          <a:p>
            <a:pPr lvl="1"/>
            <a:r>
              <a:rPr lang="en-GB" sz="1900" dirty="0"/>
              <a:t>Goes further by deploying the model.</a:t>
            </a:r>
          </a:p>
          <a:p>
            <a:endParaRPr lang="en-GB" dirty="0"/>
          </a:p>
        </p:txBody>
      </p:sp>
    </p:spTree>
    <p:extLst>
      <p:ext uri="{BB962C8B-B14F-4D97-AF65-F5344CB8AC3E}">
        <p14:creationId xmlns:p14="http://schemas.microsoft.com/office/powerpoint/2010/main" val="286410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F7163-3A1E-454D-9741-08356F7820C3}"/>
              </a:ext>
            </a:extLst>
          </p:cNvPr>
          <p:cNvSpPr>
            <a:spLocks noGrp="1"/>
          </p:cNvSpPr>
          <p:nvPr>
            <p:ph type="title"/>
          </p:nvPr>
        </p:nvSpPr>
        <p:spPr>
          <a:xfrm>
            <a:off x="2231136" y="937799"/>
            <a:ext cx="7729728" cy="1188720"/>
          </a:xfrm>
        </p:spPr>
        <p:txBody>
          <a:bodyPr/>
          <a:lstStyle/>
          <a:p>
            <a:r>
              <a:rPr lang="en-US" dirty="0"/>
              <a:t>Modified system with a different approach</a:t>
            </a:r>
            <a:endParaRPr lang="en-GB" dirty="0"/>
          </a:p>
        </p:txBody>
      </p:sp>
      <p:sp>
        <p:nvSpPr>
          <p:cNvPr id="3" name="Content Placeholder 2">
            <a:extLst>
              <a:ext uri="{FF2B5EF4-FFF2-40B4-BE49-F238E27FC236}">
                <a16:creationId xmlns:a16="http://schemas.microsoft.com/office/drawing/2014/main" id="{9AA4A9BC-6758-4FB2-8649-E1C9F86CCADA}"/>
              </a:ext>
            </a:extLst>
          </p:cNvPr>
          <p:cNvSpPr>
            <a:spLocks noGrp="1"/>
          </p:cNvSpPr>
          <p:nvPr>
            <p:ph idx="1"/>
          </p:nvPr>
        </p:nvSpPr>
        <p:spPr>
          <a:xfrm>
            <a:off x="2231136" y="2638044"/>
            <a:ext cx="7729728" cy="3802111"/>
          </a:xfrm>
        </p:spPr>
        <p:txBody>
          <a:bodyPr>
            <a:normAutofit fontScale="85000" lnSpcReduction="20000"/>
          </a:bodyPr>
          <a:lstStyle/>
          <a:p>
            <a:r>
              <a:rPr lang="en-US" sz="2100" dirty="0"/>
              <a:t>Beyond PCA and t‑SNE, wines can be grouped using </a:t>
            </a:r>
            <a:r>
              <a:rPr lang="en-US" sz="2100" dirty="0" err="1"/>
              <a:t>KMeans</a:t>
            </a:r>
            <a:r>
              <a:rPr lang="en-US" sz="2100" dirty="0"/>
              <a:t> clustering to reveal natural clusters.</a:t>
            </a:r>
          </a:p>
          <a:p>
            <a:r>
              <a:rPr lang="en-US" sz="2100" dirty="0"/>
              <a:t>This highlights how wines organize themselves even without using the quality label.</a:t>
            </a:r>
          </a:p>
          <a:p>
            <a:r>
              <a:rPr lang="en-US" sz="2100" dirty="0"/>
              <a:t>A Random Forest model can be applied to identify the most influential features for wine quality.</a:t>
            </a:r>
          </a:p>
          <a:p>
            <a:r>
              <a:rPr lang="en-US" sz="2100" dirty="0"/>
              <a:t>The resulting feature importance chart clearly shows which chemical properties matter most.</a:t>
            </a:r>
          </a:p>
          <a:p>
            <a:r>
              <a:rPr lang="en-US" sz="2100" dirty="0"/>
              <a:t>To address the imbalance in wine quality scores, class weighting or oversampling can be introduced.</a:t>
            </a:r>
          </a:p>
          <a:p>
            <a:r>
              <a:rPr lang="en-US" sz="2100" dirty="0"/>
              <a:t>This ensures that rare wine qualities are predicted more accurately.</a:t>
            </a:r>
          </a:p>
          <a:p>
            <a:r>
              <a:rPr lang="en-US" sz="2100" dirty="0"/>
              <a:t>Finally, interactive visualizations with </a:t>
            </a:r>
            <a:r>
              <a:rPr lang="en-US" sz="2100" dirty="0" err="1"/>
              <a:t>Plotly</a:t>
            </a:r>
            <a:r>
              <a:rPr lang="en-US" sz="2100" dirty="0"/>
              <a:t> can make the analysis more engaging and user‑friendly.</a:t>
            </a:r>
          </a:p>
          <a:p>
            <a:endParaRPr lang="en-GB" dirty="0"/>
          </a:p>
        </p:txBody>
      </p:sp>
    </p:spTree>
    <p:extLst>
      <p:ext uri="{BB962C8B-B14F-4D97-AF65-F5344CB8AC3E}">
        <p14:creationId xmlns:p14="http://schemas.microsoft.com/office/powerpoint/2010/main" val="809208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C8B7E7-52DB-44C3-865C-93A3F73EC11D}"/>
              </a:ext>
            </a:extLst>
          </p:cNvPr>
          <p:cNvSpPr>
            <a:spLocks noGrp="1"/>
          </p:cNvSpPr>
          <p:nvPr>
            <p:ph type="body" idx="1"/>
          </p:nvPr>
        </p:nvSpPr>
        <p:spPr>
          <a:xfrm>
            <a:off x="1591818" y="2455569"/>
            <a:ext cx="4270248" cy="704087"/>
          </a:xfrm>
        </p:spPr>
        <p:txBody>
          <a:bodyPr/>
          <a:lstStyle/>
          <a:p>
            <a:r>
              <a:rPr lang="en-GB" b="1" dirty="0"/>
              <a:t>Existing System</a:t>
            </a:r>
            <a:endParaRPr lang="en-GB" dirty="0"/>
          </a:p>
          <a:p>
            <a:endParaRPr lang="en-GB" dirty="0"/>
          </a:p>
        </p:txBody>
      </p:sp>
      <p:sp>
        <p:nvSpPr>
          <p:cNvPr id="3" name="Content Placeholder 2">
            <a:extLst>
              <a:ext uri="{FF2B5EF4-FFF2-40B4-BE49-F238E27FC236}">
                <a16:creationId xmlns:a16="http://schemas.microsoft.com/office/drawing/2014/main" id="{BAB8F85D-1404-4184-8B17-304EF2E0C8C0}"/>
              </a:ext>
            </a:extLst>
          </p:cNvPr>
          <p:cNvSpPr>
            <a:spLocks noGrp="1"/>
          </p:cNvSpPr>
          <p:nvPr>
            <p:ph sz="half" idx="2"/>
          </p:nvPr>
        </p:nvSpPr>
        <p:spPr>
          <a:xfrm>
            <a:off x="1591818" y="3263153"/>
            <a:ext cx="4270248" cy="3299012"/>
          </a:xfrm>
        </p:spPr>
        <p:txBody>
          <a:bodyPr>
            <a:normAutofit lnSpcReduction="10000"/>
          </a:bodyPr>
          <a:lstStyle/>
          <a:p>
            <a:r>
              <a:rPr lang="en-GB" dirty="0"/>
              <a:t>Previous work focused mainly on:</a:t>
            </a:r>
          </a:p>
          <a:p>
            <a:pPr lvl="1"/>
            <a:r>
              <a:rPr lang="en-GB" sz="1800" dirty="0"/>
              <a:t>Basic EDA with simple graphs.</a:t>
            </a:r>
          </a:p>
          <a:p>
            <a:pPr lvl="1"/>
            <a:r>
              <a:rPr lang="en-GB" sz="1800" dirty="0"/>
              <a:t>PCA and t‑SNE visualizations.</a:t>
            </a:r>
          </a:p>
          <a:p>
            <a:pPr lvl="1"/>
            <a:r>
              <a:rPr lang="en-GB" sz="1800" dirty="0"/>
              <a:t>Classification models like Random Forest or Logistic Regression.</a:t>
            </a:r>
          </a:p>
          <a:p>
            <a:r>
              <a:rPr lang="en-GB" dirty="0"/>
              <a:t>Limitations: less focus on imbalance, clustering evaluation, and feature importance.</a:t>
            </a:r>
          </a:p>
          <a:p>
            <a:endParaRPr lang="en-GB" dirty="0"/>
          </a:p>
        </p:txBody>
      </p:sp>
      <p:sp>
        <p:nvSpPr>
          <p:cNvPr id="4" name="Content Placeholder 3">
            <a:extLst>
              <a:ext uri="{FF2B5EF4-FFF2-40B4-BE49-F238E27FC236}">
                <a16:creationId xmlns:a16="http://schemas.microsoft.com/office/drawing/2014/main" id="{0167BB38-2DDD-4F33-B357-2B9A10AF3F47}"/>
              </a:ext>
            </a:extLst>
          </p:cNvPr>
          <p:cNvSpPr>
            <a:spLocks noGrp="1"/>
          </p:cNvSpPr>
          <p:nvPr>
            <p:ph sz="quarter" idx="4"/>
          </p:nvPr>
        </p:nvSpPr>
        <p:spPr>
          <a:xfrm>
            <a:off x="6338316" y="3143249"/>
            <a:ext cx="4253484" cy="3194797"/>
          </a:xfrm>
        </p:spPr>
        <p:txBody>
          <a:bodyPr>
            <a:normAutofit lnSpcReduction="10000"/>
          </a:bodyPr>
          <a:lstStyle/>
          <a:p>
            <a:r>
              <a:rPr lang="en-GB" dirty="0"/>
              <a:t>Pre-processing: drop unnecessary columns, scale features.</a:t>
            </a:r>
          </a:p>
          <a:p>
            <a:r>
              <a:rPr lang="en-GB" dirty="0"/>
              <a:t>Detailed EDA: distributions, correlations, imbalance analysis.</a:t>
            </a:r>
          </a:p>
          <a:p>
            <a:r>
              <a:rPr lang="en-GB" dirty="0"/>
              <a:t>PCA vs t‑SNE comparison for global and local structure.</a:t>
            </a:r>
          </a:p>
          <a:p>
            <a:r>
              <a:rPr lang="en-GB" dirty="0"/>
              <a:t>Classification with feature importance analysis.</a:t>
            </a:r>
          </a:p>
          <a:p>
            <a:r>
              <a:rPr lang="en-GB" dirty="0"/>
              <a:t>Extensions: clustering evaluation and imbalance handling.</a:t>
            </a:r>
          </a:p>
          <a:p>
            <a:endParaRPr lang="en-GB" dirty="0"/>
          </a:p>
        </p:txBody>
      </p:sp>
      <p:sp>
        <p:nvSpPr>
          <p:cNvPr id="5" name="Text Placeholder 4">
            <a:extLst>
              <a:ext uri="{FF2B5EF4-FFF2-40B4-BE49-F238E27FC236}">
                <a16:creationId xmlns:a16="http://schemas.microsoft.com/office/drawing/2014/main" id="{F16F00E9-5A44-4F5C-8A73-6C3E6C21A27D}"/>
              </a:ext>
            </a:extLst>
          </p:cNvPr>
          <p:cNvSpPr>
            <a:spLocks noGrp="1"/>
          </p:cNvSpPr>
          <p:nvPr>
            <p:ph type="body" sz="quarter" idx="13"/>
          </p:nvPr>
        </p:nvSpPr>
        <p:spPr>
          <a:xfrm>
            <a:off x="6338316" y="2703398"/>
            <a:ext cx="4270248" cy="704087"/>
          </a:xfrm>
        </p:spPr>
        <p:txBody>
          <a:bodyPr/>
          <a:lstStyle/>
          <a:p>
            <a:r>
              <a:rPr lang="en-GB" b="1" dirty="0"/>
              <a:t>Modified System (Proposed Approach)</a:t>
            </a:r>
            <a:endParaRPr lang="en-GB" dirty="0"/>
          </a:p>
          <a:p>
            <a:endParaRPr lang="en-GB" dirty="0"/>
          </a:p>
        </p:txBody>
      </p:sp>
      <p:sp>
        <p:nvSpPr>
          <p:cNvPr id="6" name="Title 5">
            <a:extLst>
              <a:ext uri="{FF2B5EF4-FFF2-40B4-BE49-F238E27FC236}">
                <a16:creationId xmlns:a16="http://schemas.microsoft.com/office/drawing/2014/main" id="{66F39167-CA2B-46AB-B76B-3DCDEAF2DA4F}"/>
              </a:ext>
            </a:extLst>
          </p:cNvPr>
          <p:cNvSpPr>
            <a:spLocks noGrp="1"/>
          </p:cNvSpPr>
          <p:nvPr>
            <p:ph type="title"/>
          </p:nvPr>
        </p:nvSpPr>
        <p:spPr/>
        <p:txBody>
          <a:bodyPr/>
          <a:lstStyle/>
          <a:p>
            <a:r>
              <a:rPr lang="en-US" dirty="0"/>
              <a:t>Existing system VS MODIFIED SYSTEM</a:t>
            </a:r>
            <a:endParaRPr lang="en-GB" dirty="0"/>
          </a:p>
        </p:txBody>
      </p:sp>
    </p:spTree>
    <p:extLst>
      <p:ext uri="{BB962C8B-B14F-4D97-AF65-F5344CB8AC3E}">
        <p14:creationId xmlns:p14="http://schemas.microsoft.com/office/powerpoint/2010/main" val="3349607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A7DA9-DCAE-4A92-9C46-608F93F4FB58}"/>
              </a:ext>
            </a:extLst>
          </p:cNvPr>
          <p:cNvSpPr>
            <a:spLocks noGrp="1"/>
          </p:cNvSpPr>
          <p:nvPr>
            <p:ph type="title"/>
          </p:nvPr>
        </p:nvSpPr>
        <p:spPr/>
        <p:txBody>
          <a:bodyPr/>
          <a:lstStyle/>
          <a:p>
            <a:r>
              <a:rPr lang="en-US" dirty="0"/>
              <a:t>Expected outcome</a:t>
            </a:r>
            <a:endParaRPr lang="en-GB" dirty="0"/>
          </a:p>
        </p:txBody>
      </p:sp>
      <p:sp>
        <p:nvSpPr>
          <p:cNvPr id="4" name="Rectangle 1">
            <a:extLst>
              <a:ext uri="{FF2B5EF4-FFF2-40B4-BE49-F238E27FC236}">
                <a16:creationId xmlns:a16="http://schemas.microsoft.com/office/drawing/2014/main" id="{50E0873F-86CE-4A27-AC6E-211B8697B55E}"/>
              </a:ext>
            </a:extLst>
          </p:cNvPr>
          <p:cNvSpPr>
            <a:spLocks noGrp="1" noChangeArrowheads="1"/>
          </p:cNvSpPr>
          <p:nvPr>
            <p:ph idx="1"/>
          </p:nvPr>
        </p:nvSpPr>
        <p:spPr bwMode="auto">
          <a:xfrm>
            <a:off x="1723136" y="2684032"/>
            <a:ext cx="912487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Visualizations of Wine Clusters</a:t>
            </a:r>
            <a:r>
              <a:rPr kumimoji="0" lang="en-US" altLang="en-US" sz="1800" b="0" i="0" u="none" strike="noStrike" cap="none" normalizeH="0" baseline="0" dirty="0">
                <a:ln>
                  <a:noFill/>
                </a:ln>
                <a:solidFill>
                  <a:schemeClr val="tx1"/>
                </a:solidFill>
                <a:effectLst/>
              </a:rPr>
              <a:t>: PCA and t‑SNE plots will clearly show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rPr>
              <a:t>    </a:t>
            </a:r>
            <a:r>
              <a:rPr kumimoji="0" lang="en-US" altLang="en-US" sz="1800" b="0" i="0" u="none" strike="noStrike" cap="none" normalizeH="0" baseline="0" dirty="0">
                <a:ln>
                  <a:noFill/>
                </a:ln>
                <a:solidFill>
                  <a:schemeClr val="tx1"/>
                </a:solidFill>
                <a:effectLst/>
              </a:rPr>
              <a:t>how wines group together based on their quality.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Key Feature Insights</a:t>
            </a:r>
            <a:r>
              <a:rPr kumimoji="0" lang="en-US" altLang="en-US" sz="1800" b="0" i="0" u="none" strike="noStrike" cap="none" normalizeH="0" baseline="0" dirty="0">
                <a:ln>
                  <a:noFill/>
                </a:ln>
                <a:solidFill>
                  <a:schemeClr val="tx1"/>
                </a:solidFill>
                <a:effectLst/>
              </a:rPr>
              <a:t>: The analysis will highlight which chemical properties, such as alcohol,</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acidity, and sulphates, have the strongest influence on wine quality.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Classification Results</a:t>
            </a:r>
            <a:r>
              <a:rPr kumimoji="0" lang="en-US" altLang="en-US" sz="1800" b="0" i="0" u="none" strike="noStrike" cap="none" normalizeH="0" baseline="0" dirty="0">
                <a:ln>
                  <a:noFill/>
                </a:ln>
                <a:solidFill>
                  <a:schemeClr val="tx1"/>
                </a:solidFill>
                <a:effectLst/>
              </a:rPr>
              <a:t>: A basic machine learning model will predict wine quality categories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rPr>
              <a:t>   </a:t>
            </a:r>
            <a:r>
              <a:rPr kumimoji="0" lang="en-US" altLang="en-US" sz="1800" b="0" i="0" u="none" strike="noStrike" cap="none" normalizeH="0" baseline="0" dirty="0">
                <a:ln>
                  <a:noFill/>
                </a:ln>
                <a:solidFill>
                  <a:schemeClr val="tx1"/>
                </a:solidFill>
                <a:effectLst/>
              </a:rPr>
              <a:t>with reasonable accuracy.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Overall Understanding</a:t>
            </a:r>
            <a:r>
              <a:rPr kumimoji="0" lang="en-US" altLang="en-US" sz="1800" b="0" i="0" u="none" strike="noStrike" cap="none" normalizeH="0" baseline="0" dirty="0">
                <a:ln>
                  <a:noFill/>
                </a:ln>
                <a:solidFill>
                  <a:schemeClr val="tx1"/>
                </a:solidFill>
                <a:effectLst/>
              </a:rPr>
              <a:t>: The outputs will provide both visual and statistical evidence of how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rPr>
              <a:t>    </a:t>
            </a:r>
            <a:r>
              <a:rPr kumimoji="0" lang="en-US" altLang="en-US" sz="1800" b="0" i="0" u="none" strike="noStrike" cap="none" normalizeH="0" baseline="0" dirty="0">
                <a:ln>
                  <a:noFill/>
                </a:ln>
                <a:solidFill>
                  <a:schemeClr val="tx1"/>
                </a:solidFill>
                <a:effectLst/>
              </a:rPr>
              <a:t>wine quality is determined.</a:t>
            </a:r>
          </a:p>
        </p:txBody>
      </p:sp>
    </p:spTree>
    <p:extLst>
      <p:ext uri="{BB962C8B-B14F-4D97-AF65-F5344CB8AC3E}">
        <p14:creationId xmlns:p14="http://schemas.microsoft.com/office/powerpoint/2010/main" val="1666149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234FF-1A3A-4E35-BEB6-F404E930AFF5}"/>
              </a:ext>
            </a:extLst>
          </p:cNvPr>
          <p:cNvSpPr>
            <a:spLocks noGrp="1"/>
          </p:cNvSpPr>
          <p:nvPr>
            <p:ph type="title"/>
          </p:nvPr>
        </p:nvSpPr>
        <p:spPr/>
        <p:txBody>
          <a:bodyPr/>
          <a:lstStyle/>
          <a:p>
            <a:r>
              <a:rPr lang="en-US" b="1" dirty="0"/>
              <a:t>Conclusion &amp; Future Scope</a:t>
            </a:r>
            <a:br>
              <a:rPr lang="en-US" dirty="0"/>
            </a:br>
            <a:endParaRPr lang="en-GB" dirty="0"/>
          </a:p>
        </p:txBody>
      </p:sp>
      <p:sp>
        <p:nvSpPr>
          <p:cNvPr id="3" name="Content Placeholder 2">
            <a:extLst>
              <a:ext uri="{FF2B5EF4-FFF2-40B4-BE49-F238E27FC236}">
                <a16:creationId xmlns:a16="http://schemas.microsoft.com/office/drawing/2014/main" id="{BFED06FB-E5D8-452A-B719-07F13916D9B6}"/>
              </a:ext>
            </a:extLst>
          </p:cNvPr>
          <p:cNvSpPr>
            <a:spLocks noGrp="1"/>
          </p:cNvSpPr>
          <p:nvPr>
            <p:ph idx="1"/>
          </p:nvPr>
        </p:nvSpPr>
        <p:spPr/>
        <p:txBody>
          <a:bodyPr>
            <a:normAutofit/>
          </a:bodyPr>
          <a:lstStyle/>
          <a:p>
            <a:r>
              <a:rPr lang="en-US" dirty="0"/>
              <a:t>PCA and t‑SNE together provide strong visualization of wine quality patterns.</a:t>
            </a:r>
          </a:p>
          <a:p>
            <a:r>
              <a:rPr lang="en-US" dirty="0"/>
              <a:t>Classification adds predictive power to the analysis.</a:t>
            </a:r>
          </a:p>
          <a:p>
            <a:r>
              <a:rPr lang="en-US" dirty="0"/>
              <a:t>Future scope:</a:t>
            </a:r>
          </a:p>
          <a:p>
            <a:pPr lvl="1"/>
            <a:r>
              <a:rPr lang="en-US" sz="1800" dirty="0"/>
              <a:t>Apply clustering methods like </a:t>
            </a:r>
            <a:r>
              <a:rPr lang="en-US" sz="1800" dirty="0" err="1"/>
              <a:t>KMeans</a:t>
            </a:r>
            <a:r>
              <a:rPr lang="en-US" sz="1800" dirty="0"/>
              <a:t>.</a:t>
            </a:r>
          </a:p>
          <a:p>
            <a:pPr lvl="1"/>
            <a:r>
              <a:rPr lang="en-US" sz="1800" dirty="0"/>
              <a:t>Handle class imbalance for better prediction of rare qualities.</a:t>
            </a:r>
          </a:p>
          <a:p>
            <a:pPr lvl="1"/>
            <a:r>
              <a:rPr lang="en-US" sz="1800" dirty="0"/>
              <a:t>Extend analysis with feature importance to identify critical attributes.</a:t>
            </a:r>
          </a:p>
          <a:p>
            <a:endParaRPr lang="en-GB" dirty="0"/>
          </a:p>
        </p:txBody>
      </p:sp>
    </p:spTree>
    <p:extLst>
      <p:ext uri="{BB962C8B-B14F-4D97-AF65-F5344CB8AC3E}">
        <p14:creationId xmlns:p14="http://schemas.microsoft.com/office/powerpoint/2010/main" val="2304835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hank you Images - Free Download on Magnific (formerly Freepik)">
            <a:extLst>
              <a:ext uri="{FF2B5EF4-FFF2-40B4-BE49-F238E27FC236}">
                <a16:creationId xmlns:a16="http://schemas.microsoft.com/office/drawing/2014/main" id="{6BD34187-2AE3-4CF4-BFDB-E5CCDF5A28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0" y="933450"/>
            <a:ext cx="7048500" cy="499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5346694"/>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36</TotalTime>
  <Words>896</Words>
  <Application>Microsoft Office PowerPoint</Application>
  <PresentationFormat>Widescreen</PresentationFormat>
  <Paragraphs>68</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Gill Sans MT</vt:lpstr>
      <vt:lpstr>Parcel</vt:lpstr>
      <vt:lpstr>Wine Feature-Space Visualization Using PCA and t-SNE</vt:lpstr>
      <vt:lpstr>Abstract</vt:lpstr>
      <vt:lpstr>ABSTRACT (cont..)</vt:lpstr>
      <vt:lpstr>Dataset </vt:lpstr>
      <vt:lpstr>Eda </vt:lpstr>
      <vt:lpstr>Existing systems</vt:lpstr>
      <vt:lpstr>Modified system with a different approach</vt:lpstr>
      <vt:lpstr>Existing system VS MODIFIED SYSTEM</vt:lpstr>
      <vt:lpstr>Expected outcome</vt:lpstr>
      <vt:lpstr>Conclusion &amp; Future Scope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Wine Feature-Space Visualization Using PCA and t-SNE</dc:title>
  <dc:creator>MADHU</dc:creator>
  <cp:lastModifiedBy>MADHU</cp:lastModifiedBy>
  <cp:revision>7</cp:revision>
  <dcterms:created xsi:type="dcterms:W3CDTF">2026-08-27T16:29:49Z</dcterms:created>
  <dcterms:modified xsi:type="dcterms:W3CDTF">2026-08-28T08:18:18Z</dcterms:modified>
</cp:coreProperties>
</file>